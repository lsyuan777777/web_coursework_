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Unbounded"/>
      <p:regular r:id="rId17"/>
    </p:embeddedFont>
    <p:embeddedFont>
      <p:font typeface="Unbounded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10.png"/><Relationship Id="rId11" Type="http://schemas.openxmlformats.org/officeDocument/2006/relationships/image" Target="../media/image-9-11.svg"/><Relationship Id="rId12" Type="http://schemas.openxmlformats.org/officeDocument/2006/relationships/image" Target="../media/image-9-12.png"/><Relationship Id="rId13" Type="http://schemas.openxmlformats.org/officeDocument/2006/relationships/image" Target="../media/image-9-13.svg"/><Relationship Id="rId14" Type="http://schemas.openxmlformats.org/officeDocument/2006/relationships/image" Target="../media/image-9-14.png"/><Relationship Id="rId15" Type="http://schemas.openxmlformats.org/officeDocument/2006/relationships/image" Target="../media/image-9-15.svg"/><Relationship Id="rId16" Type="http://schemas.openxmlformats.org/officeDocument/2006/relationships/image" Target="../media/image-9-16.png"/><Relationship Id="rId17" Type="http://schemas.openxmlformats.org/officeDocument/2006/relationships/image" Target="../media/image-9-17.svg"/><Relationship Id="rId18" Type="http://schemas.openxmlformats.org/officeDocument/2006/relationships/image" Target="../media/image-9-18.png"/><Relationship Id="rId19" Type="http://schemas.openxmlformats.org/officeDocument/2006/relationships/image" Target="../media/image-9-19.svg"/><Relationship Id="rId20" Type="http://schemas.openxmlformats.org/officeDocument/2006/relationships/image" Target="../media/image-9-20.png"/><Relationship Id="rId21" Type="http://schemas.openxmlformats.org/officeDocument/2006/relationships/image" Target="../media/image-9-21.svg"/><Relationship Id="rId22" Type="http://schemas.openxmlformats.org/officeDocument/2006/relationships/slideLayout" Target="../slideLayouts/slideLayout10.xml"/><Relationship Id="rId2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lsyuan777777/Web_coursework_" TargetMode="Externa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516148"/>
            <a:ext cx="57242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CosmicLens API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565088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RESTful web service providing programmatic access to NASA's Astronomy Picture of the Day dataset — over 30 years of astronomical imagery and scientific explanations through a well-documented, modern API.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5279469"/>
            <a:ext cx="3574733" cy="426244"/>
          </a:xfrm>
          <a:prstGeom prst="roundRect">
            <a:avLst>
              <a:gd name="adj" fmla="val 17880"/>
            </a:avLst>
          </a:prstGeom>
          <a:solidFill>
            <a:srgbClr val="D6F5EE"/>
          </a:solidFill>
          <a:ln/>
        </p:spPr>
      </p:sp>
      <p:sp>
        <p:nvSpPr>
          <p:cNvPr id="7" name="Text 4"/>
          <p:cNvSpPr/>
          <p:nvPr/>
        </p:nvSpPr>
        <p:spPr>
          <a:xfrm>
            <a:off x="929878" y="5347454"/>
            <a:ext cx="330255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XJCO3011 · WEB SERVICES &amp; WEB DATA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81870" y="5271849"/>
            <a:ext cx="123027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26A6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25578" y="5347454"/>
            <a:ext cx="94285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37" y="156805"/>
            <a:ext cx="5277326" cy="79159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8158" y="639127"/>
            <a:ext cx="6567011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Executive Summary</a:t>
            </a:r>
            <a:endParaRPr lang="en-US" sz="4100" dirty="0"/>
          </a:p>
        </p:txBody>
      </p:sp>
      <p:sp>
        <p:nvSpPr>
          <p:cNvPr id="5" name="Shape 2"/>
          <p:cNvSpPr/>
          <p:nvPr/>
        </p:nvSpPr>
        <p:spPr>
          <a:xfrm>
            <a:off x="6218158" y="1581626"/>
            <a:ext cx="7680484" cy="1518285"/>
          </a:xfrm>
          <a:prstGeom prst="roundRect">
            <a:avLst>
              <a:gd name="adj" fmla="val 578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34852" y="1798320"/>
            <a:ext cx="3494484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Full CRUD Operations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6434852" y="2240518"/>
            <a:ext cx="7247096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 Create, Read, Update, and Delete functionality for astronomy pictures and user collections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18158" y="3292673"/>
            <a:ext cx="7680484" cy="1518285"/>
          </a:xfrm>
          <a:prstGeom prst="roundRect">
            <a:avLst>
              <a:gd name="adj" fmla="val 578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34852" y="3509367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Rich Analytics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6434852" y="3951565"/>
            <a:ext cx="7247096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statistics including media distribution, temporal trends, and keyword analysis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8158" y="5003721"/>
            <a:ext cx="7680484" cy="1196935"/>
          </a:xfrm>
          <a:prstGeom prst="roundRect">
            <a:avLst>
              <a:gd name="adj" fmla="val 7337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34852" y="5220414"/>
            <a:ext cx="3450312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Modern Architecture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6434852" y="5662613"/>
            <a:ext cx="7247096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with FastAPI, PostgreSQL, and industry best practices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18158" y="6393418"/>
            <a:ext cx="7680484" cy="1196935"/>
          </a:xfrm>
          <a:prstGeom prst="roundRect">
            <a:avLst>
              <a:gd name="adj" fmla="val 7337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34852" y="6610112"/>
            <a:ext cx="4252674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Extensive Documentation</a:t>
            </a: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6434852" y="7052310"/>
            <a:ext cx="7247096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Swagger UI, ReDoc, and comprehensive API documentation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2535"/>
            <a:ext cx="63490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Technology Stack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36627"/>
            <a:ext cx="4205168" cy="42051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59981" y="2644021"/>
            <a:ext cx="2610088" cy="3990380"/>
          </a:xfrm>
          <a:prstGeom prst="roundRect">
            <a:avLst>
              <a:gd name="adj" fmla="val 5605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529501" y="2644021"/>
            <a:ext cx="121920" cy="3990380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6" name="Text 3"/>
          <p:cNvSpPr/>
          <p:nvPr/>
        </p:nvSpPr>
        <p:spPr>
          <a:xfrm>
            <a:off x="5908715" y="2901315"/>
            <a:ext cx="20040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FastAPI (Python)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908715" y="3836789"/>
            <a:ext cx="200406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performance, auto Swagger/ReDoc docs, Pydantic type safety, async support, OpenAPI standards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396883" y="2644021"/>
            <a:ext cx="2610207" cy="3990380"/>
          </a:xfrm>
          <a:prstGeom prst="roundRect">
            <a:avLst>
              <a:gd name="adj" fmla="val 5605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66403" y="2644021"/>
            <a:ext cx="121920" cy="3990380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0" name="Text 7"/>
          <p:cNvSpPr/>
          <p:nvPr/>
        </p:nvSpPr>
        <p:spPr>
          <a:xfrm>
            <a:off x="8745617" y="2901315"/>
            <a:ext cx="200417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PostgreSQL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745617" y="3836789"/>
            <a:ext cx="200417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Relational integrity, ACID compliance, advanced queries (window functions, full-text search), JSON support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11233904" y="2644021"/>
            <a:ext cx="2610207" cy="3990380"/>
          </a:xfrm>
          <a:prstGeom prst="roundRect">
            <a:avLst>
              <a:gd name="adj" fmla="val 5605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203424" y="2644021"/>
            <a:ext cx="121920" cy="3990380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4" name="Text 11"/>
          <p:cNvSpPr/>
          <p:nvPr/>
        </p:nvSpPr>
        <p:spPr>
          <a:xfrm>
            <a:off x="11582638" y="2901315"/>
            <a:ext cx="200417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SQLAlchemy ORM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582638" y="3836789"/>
            <a:ext cx="200417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Mature, type-safe query building, sync &amp; async support, database-agnostic design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24959"/>
            <a:ext cx="6945154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Architecture Design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9025" y="1843564"/>
            <a:ext cx="3011686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Project Structure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769025" y="2426256"/>
            <a:ext cx="6278166" cy="4938832"/>
          </a:xfrm>
          <a:prstGeom prst="roundRect">
            <a:avLst>
              <a:gd name="adj" fmla="val 1869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58071" y="2426256"/>
            <a:ext cx="6300073" cy="4938832"/>
          </a:xfrm>
          <a:prstGeom prst="roundRect">
            <a:avLst>
              <a:gd name="adj" fmla="val 66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32629" y="2645926"/>
            <a:ext cx="5750957" cy="4499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cosmiclens-api/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app/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main.py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config.py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database.py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models/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schemas/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routers/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services/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scripts/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docs/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data/</a:t>
            </a:r>
            <a:endParaRPr lang="en-US" sz="17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tests/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90830" y="1843564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Model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590830" y="2399586"/>
            <a:ext cx="6278166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AstronomyPicture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↔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Collection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many-to-many relationship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560350" y="3316010"/>
            <a:ext cx="60960" cy="2690813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0" name="Text 8"/>
          <p:cNvSpPr/>
          <p:nvPr/>
        </p:nvSpPr>
        <p:spPr>
          <a:xfrm>
            <a:off x="7871460" y="3346490"/>
            <a:ext cx="2725460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AstronomyPicture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871460" y="4245769"/>
            <a:ext cx="2725460" cy="173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id, date, title, explanation, media_url, hd_url, thumbnail_url, media_type, copyright, keywords, year, month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832425" y="3316010"/>
            <a:ext cx="60960" cy="2690813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3" name="Text 11"/>
          <p:cNvSpPr/>
          <p:nvPr/>
        </p:nvSpPr>
        <p:spPr>
          <a:xfrm>
            <a:off x="11143536" y="3346490"/>
            <a:ext cx="2725460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Collection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11143536" y="3902512"/>
            <a:ext cx="2725460" cy="138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id, name, description, is_public, created_at, updated_at, picture count cache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80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API Endpoints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0049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23 endpoints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 three resource groups, following RESTful principles with proper HTTP methods, resource-based URLs, pagination, filtering, and standard error codes (200, 201, 204, 400, 404, 422).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981450"/>
            <a:ext cx="4196358" cy="2409944"/>
          </a:xfrm>
          <a:prstGeom prst="roundRect">
            <a:avLst>
              <a:gd name="adj" fmla="val 395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4215884"/>
            <a:ext cx="372749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🪐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Pictures — 8 endpoints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5068252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 list, by ID, by date, search, random · POST create · PUT update · DELETE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981450"/>
            <a:ext cx="4196358" cy="2409944"/>
          </a:xfrm>
          <a:prstGeom prst="roundRect">
            <a:avLst>
              <a:gd name="adj" fmla="val 395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1396" y="4215884"/>
            <a:ext cx="372749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📁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Collections — 8 endpoints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51396" y="5068252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 list, by ID, pictures · POST create · PUT update · DELETE · Add/remove pictures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981450"/>
            <a:ext cx="4196358" cy="2409944"/>
          </a:xfrm>
          <a:prstGeom prst="roundRect">
            <a:avLst>
              <a:gd name="adj" fmla="val 395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4568" y="4215884"/>
            <a:ext cx="372749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📊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Analytics — 7 endpoints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4568" y="5068252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Overview, media-types, timeline, keywords, copyrights, monthly-stats, year-summary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4842" y="106204"/>
            <a:ext cx="5344716" cy="80170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33" y="431125"/>
            <a:ext cx="4598194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NASA APOD Dataset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33" y="909518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Source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33" y="1263848"/>
            <a:ext cx="8151733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NASA Astronomy Picture of the Day (1995–2026), via Kaggle.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11,186 records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spanning June 16, 1995 to present.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6133" y="1581031"/>
            <a:ext cx="207573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Media Distribution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34490" y="2856786"/>
            <a:ext cx="17436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96.3%</a:t>
            </a:r>
            <a:endParaRPr lang="en-US" sz="2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157" y="1970723"/>
            <a:ext cx="2126456" cy="2126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20322" y="4221123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Images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765721" y="2856786"/>
            <a:ext cx="17436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3.4%</a:t>
            </a:r>
            <a:endParaRPr lang="en-US" sz="2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387" y="1970723"/>
            <a:ext cx="2126456" cy="2126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51552" y="4221123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Videos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3700105" y="5541169"/>
            <a:ext cx="17436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0.3%</a:t>
            </a:r>
            <a:endParaRPr lang="en-US" sz="2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8772" y="4655106"/>
            <a:ext cx="2126456" cy="2126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685937" y="6905506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Other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496133" y="7259836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Schema Fields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96133" y="7614166"/>
            <a:ext cx="8151733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date, title, explanation (200–500 words), url, hdurl, media_type (image/video/other), copyright, keywords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93" y="146090"/>
            <a:ext cx="5291614" cy="79374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68628" y="614601"/>
            <a:ext cx="7779544" cy="1218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Testing Approach &amp; Results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168628" y="2251472"/>
            <a:ext cx="2589848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Testing Strategy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6168628" y="2744391"/>
            <a:ext cx="438507" cy="438507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41673" y="2780883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774537" y="2811304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Unit Testing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774537" y="3283268"/>
            <a:ext cx="3046095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validation with Pydantic, service layer business logic, router endpoint handlers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68628" y="4487942"/>
            <a:ext cx="438507" cy="438507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41673" y="4524435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774537" y="4554855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Manual Testing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774537" y="5026819"/>
            <a:ext cx="3046095" cy="1159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endpoint testing via Swagger UI, database integration verification, error handling validation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303788" y="2251472"/>
            <a:ext cx="3514368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Results — All Passed </a:t>
            </a:r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✅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10303788" y="2752011"/>
            <a:ext cx="3652004" cy="740093"/>
          </a:xfrm>
          <a:prstGeom prst="roundRect">
            <a:avLst>
              <a:gd name="adj" fmla="val 11062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521553" y="2969776"/>
            <a:ext cx="2667238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CRUD Operations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10303788" y="3659505"/>
            <a:ext cx="3652004" cy="740093"/>
          </a:xfrm>
          <a:prstGeom prst="roundRect">
            <a:avLst>
              <a:gd name="adj" fmla="val 11062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521553" y="3877270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Pagination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10303788" y="4566999"/>
            <a:ext cx="3652004" cy="740093"/>
          </a:xfrm>
          <a:prstGeom prst="roundRect">
            <a:avLst>
              <a:gd name="adj" fmla="val 11062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521553" y="4784765"/>
            <a:ext cx="3200281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Search Functionality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10303788" y="5474494"/>
            <a:ext cx="3652004" cy="740093"/>
          </a:xfrm>
          <a:prstGeom prst="roundRect">
            <a:avLst>
              <a:gd name="adj" fmla="val 11062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521553" y="5692259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Error Handling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10303788" y="6381988"/>
            <a:ext cx="3652004" cy="1044654"/>
          </a:xfrm>
          <a:prstGeom prst="roundRect">
            <a:avLst>
              <a:gd name="adj" fmla="val 7837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21553" y="6599753"/>
            <a:ext cx="3216473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Database Integration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35" y="137993"/>
            <a:ext cx="5302329" cy="79534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31362" y="521732"/>
            <a:ext cx="7854077" cy="1151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Challenges &amp; Lessons Learned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131362" y="1898094"/>
            <a:ext cx="7854077" cy="1058942"/>
          </a:xfrm>
          <a:prstGeom prst="roundRect">
            <a:avLst>
              <a:gd name="adj" fmla="val 10362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08502" y="1898094"/>
            <a:ext cx="91440" cy="1058942"/>
          </a:xfrm>
          <a:prstGeom prst="roundRect">
            <a:avLst>
              <a:gd name="adj" fmla="val 84651"/>
            </a:avLst>
          </a:prstGeom>
          <a:solidFill>
            <a:srgbClr val="26A688"/>
          </a:solidFill>
          <a:ln/>
        </p:spPr>
      </p:sp>
      <p:sp>
        <p:nvSpPr>
          <p:cNvPr id="7" name="Text 4"/>
          <p:cNvSpPr/>
          <p:nvPr/>
        </p:nvSpPr>
        <p:spPr>
          <a:xfrm>
            <a:off x="6406991" y="2105144"/>
            <a:ext cx="3307437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Database Initialization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6991" y="2482810"/>
            <a:ext cx="737139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schema creation and data import script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31362" y="3106698"/>
            <a:ext cx="7854077" cy="1058942"/>
          </a:xfrm>
          <a:prstGeom prst="roundRect">
            <a:avLst>
              <a:gd name="adj" fmla="val 10362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08502" y="3106698"/>
            <a:ext cx="91440" cy="1058942"/>
          </a:xfrm>
          <a:prstGeom prst="roundRect">
            <a:avLst>
              <a:gd name="adj" fmla="val 84651"/>
            </a:avLst>
          </a:prstGeom>
          <a:solidFill>
            <a:srgbClr val="26A688"/>
          </a:solidFill>
          <a:ln/>
        </p:spPr>
      </p:sp>
      <p:sp>
        <p:nvSpPr>
          <p:cNvPr id="11" name="Text 8"/>
          <p:cNvSpPr/>
          <p:nvPr/>
        </p:nvSpPr>
        <p:spPr>
          <a:xfrm>
            <a:off x="6406991" y="3313748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Import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6991" y="3691414"/>
            <a:ext cx="737139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Robust CSV parser handling 11,000+ records with varied date formats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131362" y="4315301"/>
            <a:ext cx="7854077" cy="1058942"/>
          </a:xfrm>
          <a:prstGeom prst="roundRect">
            <a:avLst>
              <a:gd name="adj" fmla="val 10362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08502" y="4315301"/>
            <a:ext cx="91440" cy="1058942"/>
          </a:xfrm>
          <a:prstGeom prst="roundRect">
            <a:avLst>
              <a:gd name="adj" fmla="val 84651"/>
            </a:avLst>
          </a:prstGeom>
          <a:solidFill>
            <a:srgbClr val="26A688"/>
          </a:solidFill>
          <a:ln/>
        </p:spPr>
      </p:sp>
      <p:sp>
        <p:nvSpPr>
          <p:cNvPr id="15" name="Text 12"/>
          <p:cNvSpPr/>
          <p:nvPr/>
        </p:nvSpPr>
        <p:spPr>
          <a:xfrm>
            <a:off x="6406991" y="4522351"/>
            <a:ext cx="3152656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Media Type Detection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06991" y="4900017"/>
            <a:ext cx="737139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URL-based classification extracting media type from file extensions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131362" y="5523905"/>
            <a:ext cx="7854077" cy="1058942"/>
          </a:xfrm>
          <a:prstGeom prst="roundRect">
            <a:avLst>
              <a:gd name="adj" fmla="val 10362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08502" y="5523905"/>
            <a:ext cx="91440" cy="1058942"/>
          </a:xfrm>
          <a:prstGeom prst="roundRect">
            <a:avLst>
              <a:gd name="adj" fmla="val 84651"/>
            </a:avLst>
          </a:prstGeom>
          <a:solidFill>
            <a:srgbClr val="26A688"/>
          </a:solidFill>
          <a:ln/>
        </p:spPr>
      </p:sp>
      <p:sp>
        <p:nvSpPr>
          <p:cNvPr id="19" name="Text 16"/>
          <p:cNvSpPr/>
          <p:nvPr/>
        </p:nvSpPr>
        <p:spPr>
          <a:xfrm>
            <a:off x="6406991" y="5730954"/>
            <a:ext cx="3830360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Relationship Management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406991" y="6108621"/>
            <a:ext cx="7371398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SQLAlchemy associations with properly configured junction tables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6131362" y="6751201"/>
            <a:ext cx="7854077" cy="956667"/>
          </a:xfrm>
          <a:prstGeom prst="roundRect">
            <a:avLst>
              <a:gd name="adj" fmla="val 8091"/>
            </a:avLst>
          </a:prstGeom>
          <a:solidFill>
            <a:srgbClr val="B6D6FC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551" y="7025878"/>
            <a:ext cx="230267" cy="18419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730008" y="6946821"/>
            <a:ext cx="7071241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lessons:</a:t>
            </a:r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Plan endpoints before coding · Pydantic catches errors early · Database indexing is essential at scale · Auto-generated docs aid debugging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7821" y="140732"/>
            <a:ext cx="5298757" cy="79481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7344" y="809030"/>
            <a:ext cx="7726442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Limitations &amp; Future Work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57344" y="1784747"/>
            <a:ext cx="2917031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Current Limitations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710" y="2262485"/>
            <a:ext cx="281702" cy="2817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67658" y="2253139"/>
            <a:ext cx="307526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authentication — API open to all users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7710" y="3146405"/>
            <a:ext cx="281702" cy="28170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67658" y="3137059"/>
            <a:ext cx="307526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rate limiting — potential for abuse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7710" y="4030325"/>
            <a:ext cx="281702" cy="28170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67658" y="4020979"/>
            <a:ext cx="307526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caching layer — single database only</a:t>
            </a:r>
            <a:endParaRPr lang="en-US" sz="14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7710" y="4914245"/>
            <a:ext cx="281702" cy="28170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67658" y="4904899"/>
            <a:ext cx="307526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search — no fuzzy matching or NLP</a:t>
            </a:r>
            <a:endParaRPr lang="en-US" sz="1450" dirty="0"/>
          </a:p>
        </p:txBody>
      </p:sp>
      <p:sp>
        <p:nvSpPr>
          <p:cNvPr id="14" name="Text 7"/>
          <p:cNvSpPr/>
          <p:nvPr/>
        </p:nvSpPr>
        <p:spPr>
          <a:xfrm>
            <a:off x="4808696" y="1784747"/>
            <a:ext cx="3410307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Planned Improvements</a:t>
            </a:r>
            <a:endParaRPr lang="en-US" sz="18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79062" y="2262485"/>
            <a:ext cx="281702" cy="28170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419011" y="2253139"/>
            <a:ext cx="307526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JWT-based authentication &amp; rate limiting</a:t>
            </a:r>
            <a:endParaRPr lang="en-US" sz="14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79062" y="3146405"/>
            <a:ext cx="281702" cy="281702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419011" y="3137059"/>
            <a:ext cx="307526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Redis cache for frequently accessed data</a:t>
            </a:r>
            <a:endParaRPr lang="en-US" sz="145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79062" y="4030325"/>
            <a:ext cx="281702" cy="28170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419011" y="4020979"/>
            <a:ext cx="307526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Elasticsearch for enhanced full-text search</a:t>
            </a:r>
            <a:endParaRPr lang="en-US" sz="145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79062" y="4914245"/>
            <a:ext cx="281702" cy="281702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419011" y="4904899"/>
            <a:ext cx="307526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versioning with deprecation support</a:t>
            </a:r>
            <a:endParaRPr lang="en-US" sz="1450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879062" y="5798165"/>
            <a:ext cx="281702" cy="281702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5419011" y="5788819"/>
            <a:ext cx="307526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WebSocket support for real-time updates</a:t>
            </a:r>
            <a:endParaRPr lang="en-US" sz="145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879062" y="6682085"/>
            <a:ext cx="281702" cy="28170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5419011" y="6672739"/>
            <a:ext cx="307526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 recommendation engine for similar pictures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3295"/>
            <a:ext cx="90966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Deployment &amp; 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19049"/>
            <a:ext cx="32117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Local Deployment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528530"/>
            <a:ext cx="6244709" cy="190523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2479" y="2528530"/>
            <a:ext cx="6267331" cy="1905238"/>
          </a:xfrm>
          <a:prstGeom prst="roundRect">
            <a:avLst>
              <a:gd name="adj" fmla="val 1786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65967" y="2755344"/>
            <a:ext cx="570035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app.scripts.init_db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app.main:app --reload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6889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Cloud Options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527006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PythonAnywhere · Railway · Render · Heroku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36168" y="1692235"/>
            <a:ext cx="6571417" cy="5894070"/>
          </a:xfrm>
          <a:prstGeom prst="roundRect">
            <a:avLst>
              <a:gd name="adj" fmla="val 2771"/>
            </a:avLst>
          </a:prstGeom>
          <a:solidFill>
            <a:srgbClr val="F2F2F3"/>
          </a:solidFill>
          <a:ln/>
        </p:spPr>
      </p:sp>
      <p:sp>
        <p:nvSpPr>
          <p:cNvPr id="10" name="Text 8"/>
          <p:cNvSpPr/>
          <p:nvPr/>
        </p:nvSpPr>
        <p:spPr>
          <a:xfrm>
            <a:off x="7662982" y="1919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62982" y="2500193"/>
            <a:ext cx="611778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CosmicLens API exceeds minimum requirements, demonstrating proficiency in RESTful API design, SQL database design, modern Python development, and comprehensive documentation.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662982" y="4178617"/>
            <a:ext cx="32460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GenAI Declaration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62982" y="4759762"/>
            <a:ext cx="611778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ChatGPT (Cursor AI), GitHub Copilot, and Claude AI assisted with code generation, debugging, and documentation. All code was reviewed and modified. Dataset properly attributed.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662982" y="64381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Repository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62982" y="7019330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1D7C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github.com/lsyuan777777/Web_coursework_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2026-04-19T13:57:50Z</dcterms:created>
  <dcterms:modified xsi:type="dcterms:W3CDTF">2026-04-19T13:57:50Z</dcterms:modified>
</cp:coreProperties>
</file>